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health guidance tells you to get regular sun for vitamin D. It tells you roughly how long. It never tells you when. I'm going to show you that for the same annual amount of ultraviolet, the order of the sessions is worth about a third of the total dose, and that the saving is largest for the darkest skin.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built a three-state model: serum 25-hydroxyvitamin D, a melanin index, and stratum corneum thickness, all coupled. Ultraviolet drives synthesis, and the same ultraviolet drives the two attenuating states that suppress future synthesis. Synthesis is logarithmic in dose, scaled by exposed body surface area, attenuated multiplicatively by constitutive pigment, by the facultative tan, and by the stratum corneum, then inhibited by homeostatic feedback from circulating D itself. Between sessions all three states relax analytically; each session applies a saturating jump.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result. Same number of sessions, same erythema ceiling, same sufficiency floor. Only the order changes. Front-loading cuts the cumulative ultraviolet required by twenty-nine and a half percent at Fitzpatrick type one, and thirty-five and a half percent at type six. The saving grows monotonically with pigmentation, and at tighter session budgets it reaches forty-two percent for type six.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limits, because they matter more than the result. Our pipeline reports fourteen of fourteen validation checks passing, and that number is close to meaningless on its own. We tier every check by what it actually tests: four are internal self-consistency, three are direction-only, three are circular against data we fitted to, and two are labelled in their own source as not vitamin D evidence. Two are genuine external quantitative comparisons. Our one fully held-out test fails, by half a percent, sitting between two published lamp studies that disagree with each other by a factor of two. Absolute minutes are not a dosing instruction yet. What transfers is the ranking: the order of exposure is a free variable, it's worth about a third of the dose, and it helps the people who need the most sun the most.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920240"/>
            <a:ext cx="10908792" cy="1188720"/>
          </a:xfrm>
          <a:prstGeom prst="rect">
            <a:avLst/>
          </a:prstGeom>
          <a:noFill/>
        </p:spPr>
        <p:txBody>
          <a:bodyPr wrap="square" lIns="0" rIns="0" tIns="0" bIns="0" anchor="t">
            <a:spAutoFit/>
          </a:bodyPr>
          <a:lstStyle/>
          <a:p>
            <a:pPr algn="l">
              <a:lnSpc>
                <a:spcPct val="100000"/>
              </a:lnSpc>
            </a:pPr>
            <a:r>
              <a:rPr sz="4800" b="1" i="0">
                <a:solidFill>
                  <a:srgbClr val="1A1A1A"/>
                </a:solidFill>
                <a:latin typeface="Segoe UI Semibold"/>
              </a:rPr>
              <a:t>Scheduling, not just dose</a:t>
            </a:r>
          </a:p>
        </p:txBody>
      </p:sp>
      <p:sp>
        <p:nvSpPr>
          <p:cNvPr id="3" name="Rectangle 2"/>
          <p:cNvSpPr/>
          <p:nvPr/>
        </p:nvSpPr>
        <p:spPr>
          <a:xfrm>
            <a:off x="640080" y="3291840"/>
            <a:ext cx="29260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0"/>
            <a:ext cx="9692640" cy="640080"/>
          </a:xfrm>
          <a:prstGeom prst="rect">
            <a:avLst/>
          </a:prstGeom>
          <a:noFill/>
        </p:spPr>
        <p:txBody>
          <a:bodyPr wrap="square" lIns="0" rIns="0" tIns="0" bIns="0" anchor="t">
            <a:spAutoFit/>
          </a:bodyPr>
          <a:lstStyle/>
          <a:p>
            <a:pPr algn="l">
              <a:lnSpc>
                <a:spcPct val="115000"/>
              </a:lnSpc>
            </a:pPr>
            <a:r>
              <a:rPr sz="2400" b="0" i="0">
                <a:solidFill>
                  <a:srgbClr val="4D4D4D"/>
                </a:solidFill>
                <a:latin typeface="Segoe UI"/>
              </a:rPr>
              <a:t>The order of sun exposure changes how much UV darker skin needs</a:t>
            </a:r>
          </a:p>
        </p:txBody>
      </p:sp>
      <p:sp>
        <p:nvSpPr>
          <p:cNvPr id="5" name="TextBox 4"/>
          <p:cNvSpPr txBox="1"/>
          <p:nvPr/>
        </p:nvSpPr>
        <p:spPr>
          <a:xfrm>
            <a:off x="640080" y="4983480"/>
            <a:ext cx="10908792" cy="1188720"/>
          </a:xfrm>
          <a:prstGeom prst="rect">
            <a:avLst/>
          </a:prstGeom>
          <a:noFill/>
        </p:spPr>
        <p:txBody>
          <a:bodyPr wrap="square" lIns="0" rIns="0" tIns="0" bIns="0" anchor="t">
            <a:spAutoFit/>
          </a:bodyPr>
          <a:lstStyle/>
          <a:p>
            <a:pPr algn="l">
              <a:spcAft>
                <a:spcPts val="600"/>
              </a:spcAft>
            </a:pPr>
            <a:r>
              <a:rPr sz="1600" b="0" i="0">
                <a:solidFill>
                  <a:srgbClr val="1A1A1A"/>
                </a:solidFill>
                <a:latin typeface="Segoe UI"/>
              </a:rPr>
              <a:t>Ahaan Nigam¹, Rabira Tusi², Pulkit Grover², [Fourth Author]²</a:t>
            </a:r>
          </a:p>
          <a:p>
            <a:pPr algn="l">
              <a:lnSpc>
                <a:spcPct val="125000"/>
              </a:lnSpc>
            </a:pPr>
            <a:r>
              <a:rPr sz="1300" b="0" i="0">
                <a:solidFill>
                  <a:srgbClr val="4D4D4D"/>
                </a:solidFill>
                <a:latin typeface="Segoe UI"/>
              </a:rPr>
              <a:t>¹Independent researcher · ahaannigam27@gmail.com</a:t>
            </a:r>
          </a:p>
          <a:p>
            <a:pPr algn="l">
              <a:lnSpc>
                <a:spcPct val="125000"/>
              </a:lnSpc>
            </a:pPr>
            <a:r>
              <a:rPr sz="1300" b="0" i="0">
                <a:solidFill>
                  <a:srgbClr val="4D4D4D"/>
                </a:solidFill>
                <a:latin typeface="Segoe UI"/>
              </a:rPr>
              <a:t>²Carnegie Mellon University · rtusi@cmu.edu · pulkitgrover@cmu.edu</a:t>
            </a:r>
          </a:p>
        </p:txBody>
      </p:sp>
      <p:sp>
        <p:nvSpPr>
          <p:cNvPr id="6" name="TextBox 5"/>
          <p:cNvSpPr txBox="1"/>
          <p:nvPr/>
        </p:nvSpPr>
        <p:spPr>
          <a:xfrm>
            <a:off x="640080" y="6446520"/>
            <a:ext cx="10908792" cy="274320"/>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08792" cy="1005840"/>
          </a:xfrm>
          <a:prstGeom prst="rect">
            <a:avLst/>
          </a:prstGeom>
          <a:noFill/>
        </p:spPr>
        <p:txBody>
          <a:bodyPr wrap="square" lIns="0" rIns="0" tIns="0" bIns="0" anchor="t">
            <a:spAutoFit/>
          </a:bodyPr>
          <a:lstStyle/>
          <a:p>
            <a:pPr algn="l">
              <a:lnSpc>
                <a:spcPct val="102000"/>
              </a:lnSpc>
            </a:pPr>
            <a:r>
              <a:rPr sz="4000" b="1" i="0">
                <a:solidFill>
                  <a:srgbClr val="1A1A1A"/>
                </a:solidFill>
                <a:latin typeface="Segoe UI Semibold"/>
              </a:rPr>
              <a:t>Three coupled states</a:t>
            </a:r>
          </a:p>
        </p:txBody>
      </p:sp>
      <p:sp>
        <p:nvSpPr>
          <p:cNvPr id="3" name="Rectangle 2"/>
          <p:cNvSpPr/>
          <p:nvPr/>
        </p:nvSpPr>
        <p:spPr>
          <a:xfrm>
            <a:off x="640080" y="1536192"/>
            <a:ext cx="29260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3576218"/>
            <a:ext cx="1841601" cy="686485"/>
          </a:xfrm>
          <a:prstGeom prst="roundRect">
            <a:avLst>
              <a:gd name="adj" fmla="val 14000"/>
            </a:avLst>
          </a:prstGeom>
          <a:no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C0392B"/>
                </a:solidFill>
                <a:latin typeface="Segoe UI"/>
              </a:rPr>
              <a:t>UV session (SED)</a:t>
            </a:r>
          </a:p>
        </p:txBody>
      </p:sp>
      <p:sp>
        <p:nvSpPr>
          <p:cNvPr id="5" name="Rounded Rectangle 4"/>
          <p:cNvSpPr/>
          <p:nvPr/>
        </p:nvSpPr>
        <p:spPr>
          <a:xfrm>
            <a:off x="4520793" y="2057628"/>
            <a:ext cx="2501798" cy="728090"/>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D(t)</a:t>
            </a:r>
          </a:p>
          <a:p>
            <a:pPr algn="ctr"/>
            <a:r>
              <a:rPr sz="1000" b="0" i="0">
                <a:solidFill>
                  <a:srgbClr val="4D4D4D"/>
                </a:solidFill>
                <a:latin typeface="Segoe UI"/>
              </a:rPr>
              <a:t>serum 25(OH)D</a:t>
            </a:r>
          </a:p>
        </p:txBody>
      </p:sp>
      <p:sp>
        <p:nvSpPr>
          <p:cNvPr id="6" name="Rounded Rectangle 5"/>
          <p:cNvSpPr/>
          <p:nvPr/>
        </p:nvSpPr>
        <p:spPr>
          <a:xfrm>
            <a:off x="4520793" y="3493008"/>
            <a:ext cx="2501798" cy="728090"/>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M(t)</a:t>
            </a:r>
          </a:p>
          <a:p>
            <a:pPr algn="ctr"/>
            <a:r>
              <a:rPr sz="1000" b="0" i="0">
                <a:solidFill>
                  <a:srgbClr val="4D4D4D"/>
                </a:solidFill>
                <a:latin typeface="Segoe UI"/>
              </a:rPr>
              <a:t>melanin index</a:t>
            </a:r>
          </a:p>
        </p:txBody>
      </p:sp>
      <p:sp>
        <p:nvSpPr>
          <p:cNvPr id="7" name="Rounded Rectangle 6"/>
          <p:cNvSpPr/>
          <p:nvPr/>
        </p:nvSpPr>
        <p:spPr>
          <a:xfrm>
            <a:off x="4520793" y="4928387"/>
            <a:ext cx="2501798" cy="728090"/>
          </a:xfrm>
          <a:prstGeom prst="roundRect">
            <a:avLst>
              <a:gd name="adj" fmla="val 14000"/>
            </a:avLst>
          </a:prstGeom>
          <a:solidFill>
            <a:srgbClr val="F7F7F7"/>
          </a:solidFill>
          <a:ln w="12700">
            <a:solidFill>
              <a:srgbClr val="4D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1A1A1A"/>
                </a:solidFill>
                <a:latin typeface="Segoe UI"/>
              </a:rPr>
              <a:t>SC(t)</a:t>
            </a:r>
          </a:p>
          <a:p>
            <a:pPr algn="ctr"/>
            <a:r>
              <a:rPr sz="1000" b="0" i="0">
                <a:solidFill>
                  <a:srgbClr val="4D4D4D"/>
                </a:solidFill>
                <a:latin typeface="Segoe UI"/>
              </a:rPr>
              <a:t>stratum corneum</a:t>
            </a:r>
          </a:p>
        </p:txBody>
      </p:sp>
      <p:cxnSp>
        <p:nvCxnSpPr>
          <p:cNvPr id="8" name="Connector 7"/>
          <p:cNvCxnSpPr/>
          <p:nvPr/>
        </p:nvCxnSpPr>
        <p:spPr>
          <a:xfrm flipV="1">
            <a:off x="2481681" y="2421674"/>
            <a:ext cx="2039112" cy="1497787"/>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09221" y="3042415"/>
            <a:ext cx="841248" cy="201168"/>
          </a:xfrm>
          <a:prstGeom prst="rect">
            <a:avLst/>
          </a:prstGeom>
          <a:noFill/>
        </p:spPr>
        <p:txBody>
          <a:bodyPr wrap="square" lIns="0" rIns="0" tIns="0" bIns="0" anchor="t">
            <a:spAutoFit/>
          </a:bodyPr>
          <a:lstStyle/>
          <a:p>
            <a:pPr algn="ctr"/>
            <a:r>
              <a:rPr sz="1000" b="0" i="0">
                <a:solidFill>
                  <a:srgbClr val="1A1A1A"/>
                </a:solidFill>
                <a:latin typeface="Segoe UI"/>
              </a:rPr>
              <a:t>synthesis</a:t>
            </a:r>
          </a:p>
        </p:txBody>
      </p:sp>
      <p:cxnSp>
        <p:nvCxnSpPr>
          <p:cNvPr id="10" name="Connector 9"/>
          <p:cNvCxnSpPr/>
          <p:nvPr/>
        </p:nvCxnSpPr>
        <p:spPr>
          <a:xfrm flipV="1">
            <a:off x="2481681" y="3857053"/>
            <a:ext cx="2039112" cy="62408"/>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911890" y="3609871"/>
            <a:ext cx="841248" cy="201168"/>
          </a:xfrm>
          <a:prstGeom prst="rect">
            <a:avLst/>
          </a:prstGeom>
          <a:noFill/>
        </p:spPr>
        <p:txBody>
          <a:bodyPr wrap="square" lIns="0" rIns="0" tIns="0" bIns="0" anchor="t">
            <a:spAutoFit/>
          </a:bodyPr>
          <a:lstStyle/>
          <a:p>
            <a:pPr algn="ctr"/>
            <a:r>
              <a:rPr sz="1000" b="0" i="0">
                <a:solidFill>
                  <a:srgbClr val="1A1A1A"/>
                </a:solidFill>
                <a:latin typeface="Segoe UI"/>
              </a:rPr>
              <a:t>tanning</a:t>
            </a:r>
          </a:p>
        </p:txBody>
      </p:sp>
      <p:cxnSp>
        <p:nvCxnSpPr>
          <p:cNvPr id="12" name="Connector 11"/>
          <p:cNvCxnSpPr/>
          <p:nvPr/>
        </p:nvCxnSpPr>
        <p:spPr>
          <a:xfrm>
            <a:off x="2481681" y="3919461"/>
            <a:ext cx="2039112" cy="1372971"/>
          </a:xfrm>
          <a:prstGeom prst="line">
            <a:avLst/>
          </a:prstGeom>
          <a:ln w="15875">
            <a:solidFill>
              <a:srgbClr val="1A1A1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15343" y="4547223"/>
            <a:ext cx="841248" cy="201168"/>
          </a:xfrm>
          <a:prstGeom prst="rect">
            <a:avLst/>
          </a:prstGeom>
          <a:noFill/>
        </p:spPr>
        <p:txBody>
          <a:bodyPr wrap="square" lIns="0" rIns="0" tIns="0" bIns="0" anchor="t">
            <a:spAutoFit/>
          </a:bodyPr>
          <a:lstStyle/>
          <a:p>
            <a:pPr algn="ctr"/>
            <a:r>
              <a:rPr sz="1000" b="0" i="0">
                <a:solidFill>
                  <a:srgbClr val="1A1A1A"/>
                </a:solidFill>
                <a:latin typeface="Segoe UI"/>
              </a:rPr>
              <a:t>thickening</a:t>
            </a:r>
          </a:p>
        </p:txBody>
      </p:sp>
      <p:cxnSp>
        <p:nvCxnSpPr>
          <p:cNvPr id="14" name="Connector 13"/>
          <p:cNvCxnSpPr/>
          <p:nvPr/>
        </p:nvCxnSpPr>
        <p:spPr>
          <a:xfrm flipH="1">
            <a:off x="4246473" y="3857053"/>
            <a:ext cx="274320" cy="0"/>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246473" y="5292432"/>
            <a:ext cx="274320" cy="0"/>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246473" y="3857053"/>
            <a:ext cx="0" cy="1435379"/>
          </a:xfrm>
          <a:prstGeom prst="line">
            <a:avLst/>
          </a:prstGeom>
          <a:ln w="13970">
            <a:solidFill>
              <a:srgbClr val="C0392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501237" y="3170567"/>
            <a:ext cx="745236" cy="686486"/>
          </a:xfrm>
          <a:prstGeom prst="line">
            <a:avLst/>
          </a:prstGeom>
          <a:ln w="13970">
            <a:solidFill>
              <a:srgbClr val="C0392B"/>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13785" y="3262007"/>
            <a:ext cx="896112" cy="201168"/>
          </a:xfrm>
          <a:prstGeom prst="rect">
            <a:avLst/>
          </a:prstGeom>
          <a:noFill/>
        </p:spPr>
        <p:txBody>
          <a:bodyPr wrap="square" lIns="0" rIns="0" tIns="0" bIns="0" anchor="t">
            <a:spAutoFit/>
          </a:bodyPr>
          <a:lstStyle/>
          <a:p>
            <a:pPr algn="r"/>
            <a:r>
              <a:rPr sz="1000" b="0" i="0">
                <a:solidFill>
                  <a:srgbClr val="C0392B"/>
                </a:solidFill>
                <a:latin typeface="Segoe UI"/>
              </a:rPr>
              <a:t>attenuates</a:t>
            </a:r>
          </a:p>
        </p:txBody>
      </p:sp>
      <p:sp>
        <p:nvSpPr>
          <p:cNvPr id="19" name="Circular Arrow 18"/>
          <p:cNvSpPr/>
          <p:nvPr/>
        </p:nvSpPr>
        <p:spPr>
          <a:xfrm>
            <a:off x="7114031" y="2130437"/>
            <a:ext cx="384048" cy="384048"/>
          </a:xfrm>
          <a:prstGeom prst="circularArrow">
            <a:avLst/>
          </a:prstGeom>
          <a:no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31735" y="2532773"/>
            <a:ext cx="548640" cy="411480"/>
          </a:xfrm>
          <a:prstGeom prst="rect">
            <a:avLst/>
          </a:prstGeom>
          <a:noFill/>
        </p:spPr>
        <p:txBody>
          <a:bodyPr wrap="square" lIns="0" rIns="0" tIns="0" bIns="0" anchor="t">
            <a:spAutoFit/>
          </a:bodyPr>
          <a:lstStyle/>
          <a:p>
            <a:pPr algn="ctr"/>
            <a:r>
              <a:rPr sz="900" b="0" i="0">
                <a:solidFill>
                  <a:srgbClr val="4D4D4D"/>
                </a:solidFill>
                <a:latin typeface="Segoe UI"/>
              </a:rPr>
              <a:t>g(D)</a:t>
            </a:r>
          </a:p>
          <a:p>
            <a:pPr algn="ctr"/>
            <a:r>
              <a:rPr sz="900" b="0" i="0">
                <a:solidFill>
                  <a:srgbClr val="4D4D4D"/>
                </a:solidFill>
                <a:latin typeface="Segoe UI"/>
              </a:rPr>
              <a:t>feedback</a:t>
            </a:r>
          </a:p>
        </p:txBody>
      </p:sp>
      <p:sp>
        <p:nvSpPr>
          <p:cNvPr id="21" name="TextBox 20"/>
          <p:cNvSpPr txBox="1"/>
          <p:nvPr/>
        </p:nvSpPr>
        <p:spPr>
          <a:xfrm>
            <a:off x="4520793" y="5733288"/>
            <a:ext cx="3324758" cy="256032"/>
          </a:xfrm>
          <a:prstGeom prst="rect">
            <a:avLst/>
          </a:prstGeom>
          <a:noFill/>
        </p:spPr>
        <p:txBody>
          <a:bodyPr wrap="square" lIns="0" rIns="0" tIns="0" bIns="0" anchor="t">
            <a:spAutoFit/>
          </a:bodyPr>
          <a:lstStyle/>
          <a:p>
            <a:pPr algn="l"/>
            <a:r>
              <a:rPr sz="1000" b="0" i="0">
                <a:solidFill>
                  <a:srgbClr val="BDBDBD"/>
                </a:solidFill>
                <a:latin typeface="Segoe UI"/>
              </a:rPr>
              <a:t>M and SC relax between sessions</a:t>
            </a:r>
          </a:p>
        </p:txBody>
      </p:sp>
      <p:sp>
        <p:nvSpPr>
          <p:cNvPr id="22" name="TextBox 21"/>
          <p:cNvSpPr txBox="1"/>
          <p:nvPr/>
        </p:nvSpPr>
        <p:spPr>
          <a:xfrm>
            <a:off x="7863840" y="1965960"/>
            <a:ext cx="3685032" cy="582168"/>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Serum 25(OH)D</a:t>
            </a:r>
          </a:p>
        </p:txBody>
      </p:sp>
      <p:sp>
        <p:nvSpPr>
          <p:cNvPr id="23" name="Rectangle 22"/>
          <p:cNvSpPr/>
          <p:nvPr/>
        </p:nvSpPr>
        <p:spPr>
          <a:xfrm>
            <a:off x="7863840" y="2574645"/>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2886456"/>
            <a:ext cx="3685032" cy="582168"/>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Melanin index</a:t>
            </a:r>
          </a:p>
        </p:txBody>
      </p:sp>
      <p:sp>
        <p:nvSpPr>
          <p:cNvPr id="25" name="Rectangle 24"/>
          <p:cNvSpPr/>
          <p:nvPr/>
        </p:nvSpPr>
        <p:spPr>
          <a:xfrm>
            <a:off x="7863840" y="3495141"/>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3806952"/>
            <a:ext cx="3685032" cy="582168"/>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Stratum corneum</a:t>
            </a:r>
          </a:p>
        </p:txBody>
      </p:sp>
      <p:sp>
        <p:nvSpPr>
          <p:cNvPr id="27" name="TextBox 26"/>
          <p:cNvSpPr txBox="1"/>
          <p:nvPr/>
        </p:nvSpPr>
        <p:spPr>
          <a:xfrm>
            <a:off x="640080" y="6446520"/>
            <a:ext cx="10908792" cy="274320"/>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08792" cy="1005840"/>
          </a:xfrm>
          <a:prstGeom prst="rect">
            <a:avLst/>
          </a:prstGeom>
          <a:noFill/>
        </p:spPr>
        <p:txBody>
          <a:bodyPr wrap="square" lIns="0" rIns="0" tIns="0" bIns="0" anchor="t">
            <a:spAutoFit/>
          </a:bodyPr>
          <a:lstStyle/>
          <a:p>
            <a:pPr algn="l">
              <a:lnSpc>
                <a:spcPct val="102000"/>
              </a:lnSpc>
            </a:pPr>
            <a:r>
              <a:rPr sz="4000" b="1" i="0">
                <a:solidFill>
                  <a:srgbClr val="1A1A1A"/>
                </a:solidFill>
                <a:latin typeface="Segoe UI Semibold"/>
              </a:rPr>
              <a:t>Same sessions. Same limits. 30–36% less UV.</a:t>
            </a:r>
          </a:p>
        </p:txBody>
      </p:sp>
      <p:sp>
        <p:nvSpPr>
          <p:cNvPr id="3" name="Rectangle 2"/>
          <p:cNvSpPr/>
          <p:nvPr/>
        </p:nvSpPr>
        <p:spPr>
          <a:xfrm>
            <a:off x="640080" y="1536192"/>
            <a:ext cx="29260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3_frontload_saving.png"/>
          <p:cNvPicPr>
            <a:picLocks noChangeAspect="1"/>
          </p:cNvPicPr>
          <p:nvPr/>
        </p:nvPicPr>
        <p:blipFill>
          <a:blip r:embed="rId2"/>
          <a:stretch>
            <a:fillRect/>
          </a:stretch>
        </p:blipFill>
        <p:spPr>
          <a:xfrm>
            <a:off x="640080" y="1842170"/>
            <a:ext cx="6949440" cy="4179498"/>
          </a:xfrm>
          <a:prstGeom prst="rect">
            <a:avLst/>
          </a:prstGeom>
        </p:spPr>
      </p:pic>
      <p:sp>
        <p:nvSpPr>
          <p:cNvPr id="5" name="TextBox 4"/>
          <p:cNvSpPr txBox="1"/>
          <p:nvPr/>
        </p:nvSpPr>
        <p:spPr>
          <a:xfrm>
            <a:off x="7863840" y="1965960"/>
            <a:ext cx="3685032" cy="582168"/>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−29.56% at FST I</a:t>
            </a:r>
          </a:p>
        </p:txBody>
      </p:sp>
      <p:sp>
        <p:nvSpPr>
          <p:cNvPr id="6" name="Rectangle 5"/>
          <p:cNvSpPr/>
          <p:nvPr/>
        </p:nvSpPr>
        <p:spPr>
          <a:xfrm>
            <a:off x="7863840" y="2574645"/>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2886456"/>
            <a:ext cx="3685032" cy="582168"/>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−35.50% at FST VI</a:t>
            </a:r>
          </a:p>
        </p:txBody>
      </p:sp>
      <p:sp>
        <p:nvSpPr>
          <p:cNvPr id="8" name="Rectangle 7"/>
          <p:cNvSpPr/>
          <p:nvPr/>
        </p:nvSpPr>
        <p:spPr>
          <a:xfrm>
            <a:off x="7863840" y="3495141"/>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3806952"/>
            <a:ext cx="3685032" cy="935735"/>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−42.41% at a 183-session budget</a:t>
            </a:r>
          </a:p>
        </p:txBody>
      </p:sp>
      <p:sp>
        <p:nvSpPr>
          <p:cNvPr id="10" name="TextBox 9"/>
          <p:cNvSpPr txBox="1"/>
          <p:nvPr/>
        </p:nvSpPr>
        <p:spPr>
          <a:xfrm>
            <a:off x="640080" y="6446520"/>
            <a:ext cx="10908792" cy="274320"/>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08792" cy="1005840"/>
          </a:xfrm>
          <a:prstGeom prst="rect">
            <a:avLst/>
          </a:prstGeom>
          <a:noFill/>
        </p:spPr>
        <p:txBody>
          <a:bodyPr wrap="square" lIns="0" rIns="0" tIns="0" bIns="0" anchor="t">
            <a:spAutoFit/>
          </a:bodyPr>
          <a:lstStyle/>
          <a:p>
            <a:pPr algn="l">
              <a:lnSpc>
                <a:spcPct val="102000"/>
              </a:lnSpc>
            </a:pPr>
            <a:r>
              <a:rPr sz="4000" b="1" i="0">
                <a:solidFill>
                  <a:srgbClr val="1A1A1A"/>
                </a:solidFill>
                <a:latin typeface="Segoe UI Semibold"/>
              </a:rPr>
              <a:t>What this does and does not show</a:t>
            </a:r>
          </a:p>
        </p:txBody>
      </p:sp>
      <p:sp>
        <p:nvSpPr>
          <p:cNvPr id="3" name="Rectangle 2"/>
          <p:cNvSpPr/>
          <p:nvPr/>
        </p:nvSpPr>
        <p:spPr>
          <a:xfrm>
            <a:off x="640080" y="1536192"/>
            <a:ext cx="29260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5_evidence_tiers.png"/>
          <p:cNvPicPr>
            <a:picLocks noChangeAspect="1"/>
          </p:cNvPicPr>
          <p:nvPr/>
        </p:nvPicPr>
        <p:blipFill>
          <a:blip r:embed="rId2"/>
          <a:stretch>
            <a:fillRect/>
          </a:stretch>
        </p:blipFill>
        <p:spPr>
          <a:xfrm>
            <a:off x="640080" y="2515623"/>
            <a:ext cx="6949440" cy="2832593"/>
          </a:xfrm>
          <a:prstGeom prst="rect">
            <a:avLst/>
          </a:prstGeom>
        </p:spPr>
      </p:pic>
      <p:sp>
        <p:nvSpPr>
          <p:cNvPr id="5" name="TextBox 4"/>
          <p:cNvSpPr txBox="1"/>
          <p:nvPr/>
        </p:nvSpPr>
        <p:spPr>
          <a:xfrm>
            <a:off x="7863840" y="1965960"/>
            <a:ext cx="3685032" cy="1289304"/>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14/14 checks — 2 are external and quantitative</a:t>
            </a:r>
          </a:p>
        </p:txBody>
      </p:sp>
      <p:sp>
        <p:nvSpPr>
          <p:cNvPr id="6" name="Rectangle 5"/>
          <p:cNvSpPr/>
          <p:nvPr/>
        </p:nvSpPr>
        <p:spPr>
          <a:xfrm>
            <a:off x="7863840" y="3281781"/>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3593591"/>
            <a:ext cx="3685032" cy="935735"/>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The one held-out test fails</a:t>
            </a:r>
          </a:p>
        </p:txBody>
      </p:sp>
      <p:sp>
        <p:nvSpPr>
          <p:cNvPr id="8" name="Rectangle 7"/>
          <p:cNvSpPr/>
          <p:nvPr/>
        </p:nvSpPr>
        <p:spPr>
          <a:xfrm>
            <a:off x="7863840" y="4555845"/>
            <a:ext cx="368503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4867656"/>
            <a:ext cx="3685032" cy="1289304"/>
          </a:xfrm>
          <a:prstGeom prst="rect">
            <a:avLst/>
          </a:prstGeom>
          <a:noFill/>
        </p:spPr>
        <p:txBody>
          <a:bodyPr wrap="square" lIns="0" rIns="0" tIns="0" bIns="0" anchor="t">
            <a:spAutoFit/>
          </a:bodyPr>
          <a:lstStyle/>
          <a:p>
            <a:pPr algn="l">
              <a:lnSpc>
                <a:spcPct val="108000"/>
              </a:lnSpc>
            </a:pPr>
            <a:r>
              <a:rPr sz="2400" b="1" i="0">
                <a:solidFill>
                  <a:srgbClr val="1A1A1A"/>
                </a:solidFill>
                <a:latin typeface="Segoe UI Semibold"/>
              </a:rPr>
              <a:t>The ranking transfers; the minutes don't yet</a:t>
            </a:r>
          </a:p>
        </p:txBody>
      </p:sp>
      <p:sp>
        <p:nvSpPr>
          <p:cNvPr id="10" name="TextBox 9"/>
          <p:cNvSpPr txBox="1"/>
          <p:nvPr/>
        </p:nvSpPr>
        <p:spPr>
          <a:xfrm>
            <a:off x="640080" y="6446520"/>
            <a:ext cx="10908792" cy="274320"/>
          </a:xfrm>
          <a:prstGeom prst="rect">
            <a:avLst/>
          </a:prstGeom>
          <a:noFill/>
        </p:spPr>
        <p:txBody>
          <a:bodyPr wrap="square" lIns="0" rIns="0" tIns="0" bIns="0" anchor="t">
            <a:spAutoFit/>
          </a:bodyPr>
          <a:lstStyle/>
          <a:p>
            <a:pPr algn="l"/>
            <a:r>
              <a:rPr sz="1000" b="0" i="0">
                <a:solidFill>
                  <a:srgbClr val="BDBDBD"/>
                </a:solidFill>
                <a:latin typeface="Segoe UI"/>
              </a:rPr>
              <a:t>CMU BME Forum 2026 · Nigam, Tusi, Grover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